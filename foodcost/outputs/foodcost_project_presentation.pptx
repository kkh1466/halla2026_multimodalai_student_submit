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f4dc3559a4b01" /><Relationship Type="http://schemas.openxmlformats.org/officeDocument/2006/relationships/extended-properties" Target="/docProps/app.xml" Id="R05560c36cd404cdf" /><Relationship Type="http://schemas.openxmlformats.org/officeDocument/2006/relationships/officeDocument" Target="/ppt/presentation.xml" Id="R3ee2e63853e84e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c41f16879d401c"/>
  </p:sldMasterIdLst>
  <p:notesMasterIdLst>
    <p:notesMasterId xmlns:r="http://schemas.openxmlformats.org/officeDocument/2006/relationships" r:id="R2dbdf71b03b042a9"/>
  </p:notesMasterIdLst>
  <p:sldIdLst>
    <p:sldId xmlns:r="http://schemas.openxmlformats.org/officeDocument/2006/relationships" id="256" r:id="Ra2add0f8f4a14947"/>
    <p:sldId xmlns:r="http://schemas.openxmlformats.org/officeDocument/2006/relationships" id="257" r:id="R82846d50d15f4c5d"/>
    <p:sldId xmlns:r="http://schemas.openxmlformats.org/officeDocument/2006/relationships" id="258" r:id="Rd33bbc22bc254906"/>
    <p:sldId xmlns:r="http://schemas.openxmlformats.org/officeDocument/2006/relationships" id="259" r:id="R8a4c078efd7f4ed1"/>
    <p:sldId xmlns:r="http://schemas.openxmlformats.org/officeDocument/2006/relationships" id="260" r:id="R72d686eb5f8d4105"/>
    <p:sldId xmlns:r="http://schemas.openxmlformats.org/officeDocument/2006/relationships" id="261" r:id="R208e0d7dcd0f4872"/>
    <p:sldId xmlns:r="http://schemas.openxmlformats.org/officeDocument/2006/relationships" id="262" r:id="R1de04e1586ac4c53"/>
    <p:sldId xmlns:r="http://schemas.openxmlformats.org/officeDocument/2006/relationships" id="263" r:id="R8e0a978b7e314f66"/>
    <p:sldId xmlns:r="http://schemas.openxmlformats.org/officeDocument/2006/relationships" id="264" r:id="R31692a497391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f3adeaaa048d8" /><Relationship Type="http://schemas.openxmlformats.org/officeDocument/2006/relationships/slideMaster" Target="/ppt/slideMasters/slideMaster1.xml" Id="R9ec41f16879d401c" /><Relationship Type="http://schemas.openxmlformats.org/officeDocument/2006/relationships/notesMaster" Target="/ppt/notesMasters/notesMaster1.xml" Id="R2dbdf71b03b042a9" /><Relationship Type="http://schemas.openxmlformats.org/officeDocument/2006/relationships/presProps" Target="/ppt/presProps.xml" Id="R8ce9e90d87984344" /><Relationship Type="http://schemas.openxmlformats.org/officeDocument/2006/relationships/tableStyles" Target="/ppt/tableStyles.xml" Id="R3439dad5046f44c2" /><Relationship Type="http://schemas.openxmlformats.org/officeDocument/2006/relationships/slide" Target="/ppt/slides/slide1.xml" Id="Ra2add0f8f4a14947" /><Relationship Type="http://schemas.openxmlformats.org/officeDocument/2006/relationships/slide" Target="/ppt/slides/slide2.xml" Id="R82846d50d15f4c5d" /><Relationship Type="http://schemas.openxmlformats.org/officeDocument/2006/relationships/slide" Target="/ppt/slides/slide3.xml" Id="Rd33bbc22bc254906" /><Relationship Type="http://schemas.openxmlformats.org/officeDocument/2006/relationships/slide" Target="/ppt/slides/slide4.xml" Id="R8a4c078efd7f4ed1" /><Relationship Type="http://schemas.openxmlformats.org/officeDocument/2006/relationships/slide" Target="/ppt/slides/slide5.xml" Id="R72d686eb5f8d4105" /><Relationship Type="http://schemas.openxmlformats.org/officeDocument/2006/relationships/slide" Target="/ppt/slides/slide6.xml" Id="R208e0d7dcd0f4872" /><Relationship Type="http://schemas.openxmlformats.org/officeDocument/2006/relationships/slide" Target="/ppt/slides/slide7.xml" Id="R1de04e1586ac4c53" /><Relationship Type="http://schemas.openxmlformats.org/officeDocument/2006/relationships/slide" Target="/ppt/slides/slide8.xml" Id="R8e0a978b7e314f66" /><Relationship Type="http://schemas.openxmlformats.org/officeDocument/2006/relationships/slide" Target="/ppt/slides/slide9.xml" Id="R31692a497391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6b6329fc5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6dfb05888a4b78" /><Relationship Type="http://schemas.openxmlformats.org/officeDocument/2006/relationships/notesMaster" Target="/ppt/notesMasters/notesMaster1.xml" Id="R0edd8421d3534d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89241fe0c4f65" /><Relationship Type="http://schemas.openxmlformats.org/officeDocument/2006/relationships/notesMaster" Target="/ppt/notesMasters/notesMaster1.xml" Id="Rb4f32452074343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75d3f4359644d5" /><Relationship Type="http://schemas.openxmlformats.org/officeDocument/2006/relationships/notesMaster" Target="/ppt/notesMasters/notesMaster1.xml" Id="R30158bd8cab444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683d1a19bc44b7" /><Relationship Type="http://schemas.openxmlformats.org/officeDocument/2006/relationships/notesMaster" Target="/ppt/notesMasters/notesMaster1.xml" Id="R09e8386d38a7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37a3ee9d14af3" /><Relationship Type="http://schemas.openxmlformats.org/officeDocument/2006/relationships/notesMaster" Target="/ppt/notesMasters/notesMaster1.xml" Id="Re6cdb3b6e5204b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ac586ebcd8408d" /><Relationship Type="http://schemas.openxmlformats.org/officeDocument/2006/relationships/notesMaster" Target="/ppt/notesMasters/notesMaster1.xml" Id="Rcef59bbd1b214b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4168b6bfd84f10" /><Relationship Type="http://schemas.openxmlformats.org/officeDocument/2006/relationships/notesMaster" Target="/ppt/notesMasters/notesMaster1.xml" Id="R3e60228d117147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c4adc6757440c4" /><Relationship Type="http://schemas.openxmlformats.org/officeDocument/2006/relationships/notesMaster" Target="/ppt/notesMasters/notesMaster1.xml" Id="Rfae3d7d0f343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68b9d801944b83" /><Relationship Type="http://schemas.openxmlformats.org/officeDocument/2006/relationships/notesMaster" Target="/ppt/notesMasters/notesMaster1.xml" Id="R8e12f38221de48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e6b9aeb054f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1e4ea17b946c9" /><Relationship Type="http://schemas.openxmlformats.org/officeDocument/2006/relationships/slideLayout" Target="/ppt/slideLayouts/slideLayout1.xml" Id="R8dbc7a5e50b441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bc7a5e50b441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e24007b8842c8" /><Relationship Type="http://schemas.openxmlformats.org/officeDocument/2006/relationships/image" Target="/ppt/media/image.png" Id="R48b7bea8076e4d03" /><Relationship Type="http://schemas.openxmlformats.org/officeDocument/2006/relationships/notesSlide" Target="/ppt/notesSlides/notesSlide1.xml" Id="Rb833595281a549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0272fb9bb494a" /><Relationship Type="http://schemas.openxmlformats.org/officeDocument/2006/relationships/notesSlide" Target="/ppt/notesSlides/notesSlide2.xml" Id="Ra0569fb9c7c84a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63322f1f64880" /><Relationship Type="http://schemas.openxmlformats.org/officeDocument/2006/relationships/notesSlide" Target="/ppt/notesSlides/notesSlide3.xml" Id="Rcfd8d35ce0864f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234125ef84886" /><Relationship Type="http://schemas.openxmlformats.org/officeDocument/2006/relationships/notesSlide" Target="/ppt/notesSlides/notesSlide4.xml" Id="R3dfb4df3ab32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02236d1924330" /><Relationship Type="http://schemas.openxmlformats.org/officeDocument/2006/relationships/notesSlide" Target="/ppt/notesSlides/notesSlide5.xml" Id="R87c7e1bb3e37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92e30bd74400a" /><Relationship Type="http://schemas.openxmlformats.org/officeDocument/2006/relationships/notesSlide" Target="/ppt/notesSlides/notesSlide6.xml" Id="R189303f65d6143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62d00e8134a01" /><Relationship Type="http://schemas.openxmlformats.org/officeDocument/2006/relationships/chart" Target="/ppt/slides/charts/chart1.xml" Id="R6d16f47e18ce43f7" /><Relationship Type="http://schemas.openxmlformats.org/officeDocument/2006/relationships/notesSlide" Target="/ppt/notesSlides/notesSlide7.xml" Id="Rf8f2433160c2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1cf34b6f64b88" /><Relationship Type="http://schemas.openxmlformats.org/officeDocument/2006/relationships/notesSlide" Target="/ppt/notesSlides/notesSlide8.xml" Id="R7787ee61d24e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9b9b1d80c48af" /><Relationship Type="http://schemas.openxmlformats.org/officeDocument/2006/relationships/notesSlide" Target="/ppt/notesSlides/notesSlide9.xml" Id="R37de4d2a0332494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원가율 기준</c:v>
          </c:tx>
          <c:spPr>
            <a:solidFill xmlns:a="http://schemas.openxmlformats.org/drawingml/2006/main">
              <a:srgbClr val="2F80ED"/>
            </a:solidFill>
          </c:spPr>
          <c:cat>
            <c:strLit>
              <c:ptCount val="3"/>
              <c:pt idx="0">
                <c:v>양호</c:v>
              </c:pt>
              <c:pt idx="1">
                <c:v>주의</c:v>
              </c:pt>
              <c:pt idx="2">
                <c:v>위험</c:v>
              </c:pt>
            </c:strLit>
          </c:cat>
          <c:val>
            <c:numLit>
              <c:formatCode>General</c:formatCode>
              <c:ptCount val="3"/>
              <c:pt idx="0">
                <c:v>28</c:v>
              </c:pt>
              <c:pt idx="1">
                <c:v>35</c:v>
              </c:pt>
              <c:pt idx="2">
                <c:v>45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7bea8076e4d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F5973-F9B4-44F5-8A61-64C76B09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oundRect">
            <a:avLst>
              <a:gd name="adj" fmla="val 1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D15A4-6F20-4D5A-B2B7-F9C66BF0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95350"/>
            <a:ext cx="438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AI 기반</a:t>
            </a:r>
          </a:p>
          <a:p xmlns:a="http://schemas.openxmlformats.org/drawingml/2006/main">
            <a:pPr algn="l">
              <a:def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푸드코스트</a:t>
            </a:r>
          </a:p>
          <a:p xmlns:a="http://schemas.openxmlformats.org/drawingml/2006/main">
            <a:pPr algn="l">
              <a:def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자동계산 서비스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F3A58-FEA7-4DD5-8C7B-1B3DFA08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095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41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영수증과 CSV를 식재료 데이터로 바꾸고,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레시피 기반 원가율과 마진을 바로 보여주는</a:t>
            </a:r>
          </a:p>
          <a:p xmlns:a="http://schemas.openxmlformats.org/drawingml/2006/main">
            <a:pPr algn="l">
              <a:def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소상공인용 원가 관리 웹 서비스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D9CC0-BE23-4E72-9FC8-A47DB944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프로젝트 발표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A6438-ED98-47DD-B576-2B14D7E6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</p:spTree>
    <p:extLst>
      <p:ext uri="{BB962C8B-B14F-4D97-AF65-F5344CB8AC3E}">
        <p14:creationId xmlns:p14="http://schemas.microsoft.com/office/powerpoint/2010/main" val="20278452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4DD7E0-76A2-4B99-8FF7-DB694267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문제는 입력 부담과 원가 판단의 지연입니다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BC759-D92C-40EB-8BC7-423C8861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84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외식업 사장은 매입 자료, 레시피, 판매가를 함께 봐야 하지만 이 과정이 대부분 수작업입니다.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D0A4A-D70A-487C-9B1E-E2CEA7BE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261BB-9706-46C3-9B98-4B28C916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3F466-A41B-46D6-8C1D-764106F2F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5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영수증·거래명세서의 품목과 단가를 직접 옮겨 적어야 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D21FB-64E7-4E0D-A46D-8773324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BD7FE-5AA8-4DE4-8840-B4AB5BB9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11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식재료 가격 변동이 메뉴 원가율에 반영되기까지 시간이 걸림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30B2A-48EA-4F29-8A24-192D67B2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F1809-C42A-4DD1-824B-D3E0A417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343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어떤 메뉴가 30% 기준을 넘는지 즉시 판단하기 어려움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E1FBE-2CA9-47FC-8D64-CE9CBA44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1333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A0F46-4E36-43B9-B462-10E5A9C6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502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89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소규모 매장일수록 별도 ERP 없이 엑셀과 기억에 의존함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73AA-587E-4E29-A4B2-BF8310A1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2000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44978-38E2-4BFF-AB88-B0467D9D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원가율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F32F0-D42B-47B1-A495-D46E4CD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79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판매가 대비 식재료 비용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F7277-58F8-4E45-9A90-9E45E2F0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00250"/>
            <a:ext cx="2000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9419E-6C02-46A9-905C-D0A67F2C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rPr>
              <a:t>마진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269C7-C22B-4209-AD73-496B180E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판매가 - 총 원가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A3A2E-362A-4D0E-B3AC-81771FE9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2000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2A5B5-3BB0-4F27-A167-AE3BDEC2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338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2B84B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2B84B"/>
                </a:solidFill>
                <a:latin typeface="Malgun Gothic"/>
                <a:ea typeface="Malgun Gothic"/>
                <a:cs typeface="Malgun Gothic"/>
              </a:rPr>
              <a:t>30%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D97CBB-928F-472C-8500-A3127E15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291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5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주의 메뉴 기준선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45558-FCF2-4F74-8428-42061C21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000250" cy="12192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A3D3BD-74BB-4555-B799-2CA5B0D5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rPr>
              <a:t>40%+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C51B9-C69C-4E33-9266-76ED8C1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291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56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위험 메뉴 기준선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5FCBF-F48A-4B9B-B476-8DAE575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490EC0-F474-4DE4-B03B-05C90304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05711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A434E-F2F1-4375-80A0-FEF16C68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62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기획의 초점은 ‘입력 자동화 → 원가 의사결정’입니다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0CC3-FF55-4F46-8E81-6AD5CF92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83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사용자가 데이터를 넣는 순간부터 메뉴별 판단 지표까지 이어지는 하나의 업무 흐름을 만들었습니다.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F4B68-C2B8-43E5-AA92-63606C6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AAC41-8009-469C-8692-75066AB7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33C18-6441-4E66-940E-AAE7F0D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05E78-199A-40CA-9827-6C7C6B82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1. 매입 자료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38527-C0FD-480F-A252-E9B6D65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영수증 이미지 또는 CSV 파일 업로드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27459-F893-4870-A0DD-CCB7EC50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33E36-B60F-4AC1-B5BC-54CD27AD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35A"/>
          </a:solidFill>
          <a:ln xmlns:a="http://schemas.openxmlformats.org/drawingml/2006/main" w="0">
            <a:solidFill>
              <a:srgbClr val="23A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F993A-48D1-4D3B-B439-F029790F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2. 식재료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C080B-E87F-4C51-B8D9-2ECCE7D9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432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품목명, 단위, 단가, 카테고리 추출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3511D-CE19-4B4A-8E21-F5C82C8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9075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D644A-49E4-45B4-8D41-3C5A782A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90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4DB59-15C2-404F-84B9-84CE56D3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3. 레시피 연결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C5C6B-A05F-4E55-8F44-8602F78A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432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메뉴별 식재료 사용량과 판매가 입력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C56CF-68B1-4E45-B69E-7AFCABB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21907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9BF61-A49F-4394-BCCC-A80182AA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F"/>
          </a:solidFill>
          <a:ln xmlns:a="http://schemas.openxmlformats.org/drawingml/2006/main" w="0">
            <a:solidFill>
              <a:srgbClr val="E04F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956A33-75CD-4822-9542-692E3E2C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4. 원가 계산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77DE5-84C3-4547-8FE8-BA4CC9F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단위 변환 후 총 원가, 원가율, 마진 산출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A9A52-A74E-43FF-B139-69BECEC0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59105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EF3A1-A630-4A5F-9F54-D9E99D9E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0">
            <a:solidFill>
              <a:srgbClr val="22283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5C5754-9665-42CA-B734-3260EFE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76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5. 리포트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D2180E-DAA1-444A-A0DA-3E4E2ACD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577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위험 메뉴와 식재료 비용 비중 시각화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C0099-825F-45E2-8995-57D2CB0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885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39F53-094D-46DF-846D-908E6954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885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CFBD3-11CE-4157-A983-BED8EDEE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44885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2D901-A6E3-44ED-97F2-5BBCA055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핵심 가치: 반복 입력을 줄이고, 가격 변동이 메뉴 손익에 미치는 영향을 빠르게 확인합니다.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6225F7-040A-49F2-A6CD-5C136CF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546711-4CDF-4C1F-8FC0-2502C9C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947611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51DC9E-9AAE-4FF3-B67C-70553498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77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AI 모델은 입력 유형별 역할을 분리해 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81B1-1472-4B44-938B-8E31E084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이미지 이해, OCR 보조, 텍스트 정규화가 각각 다른 난이도를 갖기 때문입니다.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382CF-D75F-4E1E-87BE-45B2C71C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37520-E7AC-41EE-B4FF-41D3C496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95300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5033-E3A5-4ED1-9441-3B86ACAC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AI·문서 인식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DA903-0A5C-43CE-AB0A-9002DB4D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44221-0131-4287-8740-73DE1EBD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849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OpenAI Vision 모델: 영수증 이미지에서 품목·수량·금액 추출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6CA70-73F7-411B-9F1E-DE95270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2DD36-B302-4350-A618-9B06AD8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48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AWS Textract: OCR 보조 텍스트로 숫자와 행 구조 보강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6EAB8-0031-4287-8311-5A6536F5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15008-90F2-4C26-AA81-B897022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528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1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gpt-4o-mini: CSV·텍스트 기반 식재료 정보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BF591-B720-4D8E-9425-4704C1D4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9AE41-77F8-453F-90EB-16AB0D85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9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JSON Schema 응답: 후처리 가능한 구조화 결과 확보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CD2A0-1C56-487F-AFE8-FF0FAD5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495300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D3360-F5E7-44A8-923D-A87776B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웹·데이터 기술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62429-E616-4E95-BC11-A72323F7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3BA1C-859B-4811-AD8F-1FB08853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14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Next.js 14 App Router와 TypeScript로 풀스택 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8330F-51A1-4D13-994E-8A0E953E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C03BF-DC09-4ABB-8A08-7F625FDC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575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800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NextAuth와 bcrypt 기반 사용자 인증 및 데이터 격리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79476-E67C-4BD6-B712-DA28BC29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278F3E-390F-41D6-93D7-0904D02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5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Prisma + SQLite로 메뉴·레시피·가격 이력 저장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EB30C-2725-435A-A28C-62186959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67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352DF-0C46-450D-9318-E0B5A6E0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481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3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Recharts로 원가율, 비용 비중, 가격 추이를 시각화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DCF1A8-49B9-4550-8FC5-D2F988AB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근거: package.json, src/lib/openai.ts, prisma/schema.prisma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11A692-8E24-4964-8EFE-C75DEEAD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65205-9A35-4A70-9E41-8651F329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13938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D5BCA8-348D-486C-B645-DE407588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75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멀티모달 파이프라인은 검토 가능한 데이터로 끝납니다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32B95-41A9-4679-BA52-EC27C5EF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2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이미지·CSV 입력을 바로 DB에 넣지 않고, 사용자가 선택·수정할 수 있는 리뷰 단계를 둔 점이 구현 완성도의 핵심입니다.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0B995-F01B-43FE-B82D-C5E18508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EC840-E576-4F5A-8486-1BC492B7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C2DA0-BDAA-4649-8D08-A9864744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C5A80-97CA-4949-B890-7C478910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479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966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이미지/CSV 업로드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9054-DA6E-4E2C-B605-8D1A6E4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1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10MB 이하 파일, JPG/PNG/WebP/CSV 지원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9C0F5-ED68-425A-A955-D88AE422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97D36-3B40-4391-974B-2EEBC80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76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35A"/>
          </a:solidFill>
          <a:ln xmlns:a="http://schemas.openxmlformats.org/drawingml/2006/main" w="0">
            <a:solidFill>
              <a:srgbClr val="23A3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C5AE-5EA9-4FA1-9833-35DC102B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479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AI 추출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CD86F6-B675-4E56-8577-355E89C4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289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품목명·수량·단가·총액을 구조화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CEE42-7A05-4A38-A6A8-0832CB2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8943E-2FBA-47B0-8994-DE6A70C8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76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51DCB-F733-4273-BB78-260DFD76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08DD9-8E29-44C3-B146-708B95D9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6289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단위 보정, 품목명 정리, 카테고리 분류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51B16-1980-4735-A80F-F42D388A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2095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B9573-16F4-4A7B-80F6-9EC23E1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76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4F4F"/>
          </a:solidFill>
          <a:ln xmlns:a="http://schemas.openxmlformats.org/drawingml/2006/main" w="0">
            <a:solidFill>
              <a:srgbClr val="E04F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9317F-2C55-4802-9162-8F0D570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리뷰/선택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D053B-2388-4FD4-9541-5D28A3A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테이블에서 품목 선택 및 이름 수정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2D9F64-4434-47B3-817E-36925BA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05250"/>
            <a:ext cx="36576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C2CD90-70AE-49D4-A509-C9C66CB46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9052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831"/>
          </a:solidFill>
          <a:ln xmlns:a="http://schemas.openxmlformats.org/drawingml/2006/main" w="0">
            <a:solidFill>
              <a:srgbClr val="22283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1BFB8-99B4-4DBC-BFC4-637433DB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767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Upsert 저장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C33C2-EE36-45DC-8442-32C6BAE9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457700"/>
            <a:ext cx="3257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신규 식재료 생성 또는 기존 단가 갱신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2526CC-B991-401D-9CD2-0E7EE0D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31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이미지 모델의 추론 결과를 그대로 믿기보다, 업무 데이터로 쓰기 전 사람이 확인하는 UX를 설계했습니다.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4311F-CD3E-4490-BF58-B98D0260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09C16C-6E98-4796-8D3E-7DC62215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1828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D8BED9-7575-4D3D-90BB-9346B27A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34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구현은 핵심 업무 화면과 API까지 연결되어 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6FFFC-CF1D-4053-8F26-97978782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단순 데모가 아니라 인증, CRUD, 원가 계산, 리포트까지 한 서비스 흐름으로 구성했습니다.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1CE96-F260-41B5-9387-D80ED014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B134A-A6AA-4028-9D69-A64C76D5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22831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F2F71-CDC0-4A90-8C65-FF92946A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764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8C8B26-AA4F-40F6-9BB1-4E8D9896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764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구현 내용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0C12D-AA04-494A-BD0E-F638E0E4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대표 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B330B-66AB-48CD-ACD6-9655A5A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069D6-F6D3-489F-9814-81C69A1F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E10D7-2523-48E6-A279-DCE817D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289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회원가입, 로그인, 세션 보호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25D15-CC9A-426C-BA55-2871DB1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src/lib/auth.ts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D77BE-14EE-4B45-B887-45D3DBD5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D7714-A2F5-4A65-9673-737B671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식재료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A12B68-F510-4E8E-AAF5-3A67C57C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1813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CRUD, 검색·필터, 업로드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935E8-EA27-407A-AE43-50BC89EB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api/ingredients/*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D4D253-DA87-4BAC-859F-59BEB3D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7A532-3EA4-438F-B188-A08EB224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레시피/메뉴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61FFF-A79F-4FBB-A794-AA9DAE23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메뉴별 판매가와 식재료 사용량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D7C37A-187C-49F0-97FD-A88342BA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api/menus/*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09B5B-249C-4776-860A-1D51AAE9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55D50-640A-4C2F-9C20-E14B4F9F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원가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3F272B-8A1C-4540-A9BE-ACF79A4C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862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단위 변환, 총 원가, 원가율, 마진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F12A9-A179-49A2-B804-EEA1E26A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api/cost, lib/units.ts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2A7C4-CF34-48DA-8BCB-30C2784D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06680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4F1FE-096C-4058-AC48-D6BA06C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3BDB9-1BD5-494E-A3A6-1790DF6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83870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원가율 순위, 식재료 비중, 가격 추이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077C7-9F19-43E4-B406-58E21603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api/reports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015DE6-39BC-4B09-9FBA-CE75D5E1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37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데이터 모델은 User → Ingredient/Menu → RecipeItem → PriceHistory 관계로, 사용자별 원가 데이터를 분리합니다.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AAFE1-B749-4883-B612-42358C7B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7B4FB6-B5AB-466D-8552-19CD03E5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732101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7DBBF-122C-4511-B053-7D57BAAE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결과 품질은 계산 근거와 시각화로 검증됩니다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BAC56-92AA-4845-8D58-0E7ACCEA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원가율 기준과 식재료 비중을 명확히 보여주어 실제 매장 운영 판단에 바로 연결됩니다.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106D8-D559-4673-ADB8-3507C05F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00100" y="2000250"/>
          <a:ext xmlns:a="http://schemas.openxmlformats.org/drawingml/2006/main" cx="49530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6f47e18ce43f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44E5E-E649-4475-A64E-D72A407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4095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61A1E-86CB-4628-91A3-5731EA10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단위 변환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08E29-9651-442A-B923-17452606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kg↔g, L↔mL 변환 후 레시피 원가 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6EB8F-4658-4B21-8BA7-EC1B80C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28950"/>
            <a:ext cx="4095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BA017-3226-4D9F-A8A7-86758007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81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rPr>
              <a:t>가격 이력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38C1E-819D-4EEE-BBA9-698CABD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단가 변경 시 추이를 리포트에서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4C8C4-ED8B-42A6-8544-871D5DE0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38600"/>
            <a:ext cx="409575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A3892-9CD4-41A3-A00E-F4E621D8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rPr>
              <a:t>운영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D79EF-B6A0-432A-A75C-99DE7F16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30% 초과 메뉴를 우선 개선 대상으로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8DFE0-32EC-4376-9C97-2FB9AC8D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60026-B957-47C6-8169-4B4F496D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078217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A1F1C-CAE6-42F1-85E7-BF1E690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66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평가지표별 근거가 서비스 안에 직접 대응됩니다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2760C-150B-4542-A93C-9ABB4E6D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발표 심사 기준에 맞춰 기능과 기술 선택의 이유를 한눈에 정리했습니다.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EB803-0E48-4900-8072-10D0ABE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8A376-06D8-4E16-A87E-BABB9A54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0572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28560-FEEA-403D-8E1E-452283D5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F80ED"/>
                </a:solidFill>
                <a:latin typeface="Malgun Gothic"/>
                <a:ea typeface="Malgun Gothic"/>
                <a:cs typeface="Malgun Gothic"/>
              </a:rPr>
              <a:t>1. 주제 적합성 및 기획력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F24D8-2940-4317-BB60-DC88AE6B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13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외식업 원가 관리라는 명확한 현장 문제를 영수증 입력 자동화와 메뉴 손익 판단으로 해결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F2D43B-D033-4E74-881D-502D4FBA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572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9E1EA-C290-44D1-B80B-293AB0BA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3A35A"/>
                </a:solidFill>
                <a:latin typeface="Malgun Gothic"/>
                <a:ea typeface="Malgun Gothic"/>
                <a:cs typeface="Malgun Gothic"/>
              </a:rPr>
              <a:t>2. AI 모델 및 기술 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60008-D0AD-40F5-A1CB-5EFFC37B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Vision, Textract, CSV LLM 분석, Prisma/Next.js를 입력 특성에 맞게 분리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C9BD1-F691-4674-B062-556F0408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0572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8399B-C63A-4B33-AC80-FE0262F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2B84B"/>
                </a:solidFill>
                <a:latin typeface="Malgun Gothic"/>
                <a:ea typeface="Malgun Gothic"/>
                <a:cs typeface="Malgun Gothic"/>
              </a:rPr>
              <a:t>3. 멀티모달 연계 완성도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37305-76CA-4D1A-8D89-DE352BD6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624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이미지·CSV 업로드 → AI 추출 → 리뷰 → DB 저장 → 대시보드까지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D2AF5-21D5-46B9-BF7E-C171258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1057275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D91F9-EE39-46A8-A7D8-06BB21A7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E04F4F"/>
                </a:solidFill>
                <a:latin typeface="Malgun Gothic"/>
                <a:ea typeface="Malgun Gothic"/>
                <a:cs typeface="Malgun Gothic"/>
              </a:rPr>
              <a:t>4. 결과 품질 및 활용성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F6311-A0DF-4AA5-8831-0A8CB92D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원가율, 마진, 위험 메뉴, 식재료 비중, 가격 추이를 실제 운영 지표로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ADAEC-2470-4F00-BBEB-E5DA98C7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358A0-DC03-409C-B470-9E81204D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73564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AB108-7145-4DDD-A269-E72DA70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65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FoodCost AI는 작은 매장의 원가 감각을 데이터화합니다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AD13D-CEF6-4B26-8DED-1C99631A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다음 단계는 정확도 검증과 운영 자동화를 더 깊게 연결하는 것입니다.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6E5ED-C8D5-40B6-8FC9-3DD2C484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FoodCost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27F43-9D59-413A-AC25-35C928F0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897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E1BE4-F45C-428B-98DD-22B6821C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655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영수증 이미지 인식 정확도 평가 세트 구축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5480-BFE6-4C2D-B5FC-56E862E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897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7C56E-93EE-4B00-90E9-4F83A833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47950"/>
            <a:ext cx="655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식재료 표준명 사전과 바코드 매핑 확대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9832-4CD6-4499-9CC1-BC7C374B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897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EA343-342C-4052-9989-AA5927E1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00400"/>
            <a:ext cx="655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가격 변동 알림과 메뉴 가격 조정 추천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79DED-A195-46BB-AD65-1540843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58974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2EC0D-1A99-4F9D-989B-6E88C75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655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클라우드 배포 환경에서 사용자별 데이터 백업 강화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3D6DD-8C07-4053-A992-4CD16707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381250" cy="2476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032F15-B99B-4E64-A48F-79529523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01418"/>
                </a:solidFill>
                <a:latin typeface="Malgun Gothic"/>
                <a:ea typeface="Malgun Gothic"/>
                <a:cs typeface="Malgun Gothic"/>
              </a:rPr>
              <a:t>핵심 메시지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9A502-9BDE-42E6-B143-BF1732DE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576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입력은 AI가 줄이고,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판단은 데이터가 빠르게</a:t>
            </a:r>
          </a:p>
          <a:p xmlns:a="http://schemas.openxmlformats.org/drawingml/2006/main">
            <a:pPr algn="l">
              <a:def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도와주는 원가 관리 서비스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995FB-D735-4498-9DCD-6B868B21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0">
            <a:solidFill>
              <a:srgbClr val="C7CD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61095-F4C7-46E9-8A90-E375F064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60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47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1699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2026-07-11T01:32:59.3230000Z</dcterms:created>
  <dcterms:modified xsi:type="dcterms:W3CDTF">2026-07-11T01:32:59.3230000Z</dcterms:modified>
</coreProperties>
</file>